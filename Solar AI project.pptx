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8" r:id="rId4"/>
    <p:sldId id="263" r:id="rId5"/>
    <p:sldId id="277" r:id="rId6"/>
    <p:sldId id="266" r:id="rId7"/>
    <p:sldId id="258" r:id="rId8"/>
    <p:sldId id="269" r:id="rId9"/>
    <p:sldId id="270" r:id="rId10"/>
    <p:sldId id="271" r:id="rId11"/>
    <p:sldId id="276" r:id="rId12"/>
    <p:sldId id="272" r:id="rId13"/>
    <p:sldId id="279" r:id="rId14"/>
    <p:sldId id="280" r:id="rId15"/>
    <p:sldId id="274" r:id="rId16"/>
    <p:sldId id="273" r:id="rId17"/>
    <p:sldId id="264" r:id="rId18"/>
    <p:sldId id="275" r:id="rId19"/>
    <p:sldId id="26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 autoAdjust="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DEB77-C02D-446A-B88C-A2D5FE6DF181}" type="datetimeFigureOut">
              <a:rPr lang="en-IN" smtClean="0"/>
              <a:pPr/>
              <a:t>30-04-2026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217781-4E79-477B-BD19-6E9C2FD127E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685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18D6B-A558-48B0-85D6-368D35A07A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8B769-7F50-4BEC-ACBC-ABAEEF8FC4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74032-D002-4DD1-8035-7FCD06B3A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F9F3B-7A09-416F-8091-3D4027A1DD22}" type="datetime1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C0630-1ED9-4C94-B7C5-0552FCC3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Design  and Implementation of Fractional Order IMC Controller for Nonlinear Process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88445-3913-4E45-AEF5-36B349307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815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F1D1C-DACF-4236-B38D-941EEF30B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79EEF-1142-485C-AAB6-7B79F2AFF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770BB-B039-49CB-B4EB-11980A2F3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5C32A-C551-4F47-9627-A4A264E69D65}" type="datetime1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F4B1E-9374-4E56-BA38-301758539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Design  and Implementation of Fractional Order IMC Controller for Nonlinear Process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0DDC7-66FC-434C-9351-F185BAA24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94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125DE-3379-4291-8110-13643CAF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0377D-922B-4C7F-9DAE-900EA61CE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081F4-ED34-445D-AF57-5467E8003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CF4DD-DFB5-4078-A46C-B1483E15900E}" type="datetime1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B14D0-DEC2-414B-B741-CD4261823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Design  and Implementation of Fractional Order IMC Controller for Nonlinear Process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6FA2F-449C-4279-8B5B-F9A5731E9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828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2972-79A8-4E89-8902-8DC74AF99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DA125-A330-41F1-9BC4-1EF9017883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CE5BE-8A2E-47DC-B509-871E9457B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6D802-B3EF-4987-AEA9-0D2C4237B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15E30-8A3F-4156-99BD-20C92274D47E}" type="datetime1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381F78-AA9E-4867-9A8B-FA42490E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Design  and Implementation of Fractional Order IMC Controller for Nonlinear Process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0B2FB-E410-44F5-82E8-934AFCECF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176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FFAFF-0881-43E3-91B3-BAD70D768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A0ED5-3BFF-4E7E-9BFA-A8F954193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5A6EFE-45EC-4016-AB46-271BA392DA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810A69-DAA3-412B-BA30-DFC9A7FCEC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64A405-C995-45DC-846B-F4593D3B7A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9CD4F-B225-412B-B8AC-51ABCB997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FFBAF-3C3E-45A4-BD7E-862C987D4840}" type="datetime1">
              <a:rPr lang="en-IN" smtClean="0"/>
              <a:t>30-04-2026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64D74E-B858-4937-9DFC-7D13E359E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Design  and Implementation of Fractional Order IMC Controller for Nonlinear Process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9E5F86-4617-47D9-B4B3-F51CADE0E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843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98670-8C12-4033-9302-C83EBE435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189417-01E7-4914-94F0-701FE6B07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5EB8A-4DD8-4C56-9140-81378C5CF943}" type="datetime1">
              <a:rPr lang="en-IN" smtClean="0"/>
              <a:t>30-04-2026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802825-A41D-48D5-A07E-F69D3B172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Design  and Implementation of Fractional Order IMC Controller for Nonlinear Process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373F36-CC68-493A-B9AD-72FB86953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08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BC203B-1C3B-4297-AD32-58217807D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721B9-765B-4F00-83C3-E8B587D6BC77}" type="datetime1">
              <a:rPr lang="en-IN" smtClean="0"/>
              <a:t>30-04-2026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8E19FE-77F3-4171-8F35-F44E73680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Design  and Implementation of Fractional Order IMC Controller for Nonlinear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91F99-9348-4E04-A6B3-346A672C5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635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509AD-A4C2-46A8-A306-6808F0AD9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95B4C-2998-4121-A336-1CC5D62E8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F6144D-D525-4E71-9119-1864C62F8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719060-65F6-4897-B037-778AA4775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05D90-09DC-4E87-BC36-5244F20645C3}" type="datetime1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5B0A98-B337-4A92-B182-3F1AB680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Design  and Implementation of Fractional Order IMC Controller for Nonlinear Process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740841-5858-4835-BB16-B70D0FDA3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021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24A4F-8C16-41B5-A845-8B0302DD0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A42936-2F97-4477-8E8A-27DA63C822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43A810-656C-476E-BC77-1684A1D93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F140E-E771-495C-82B1-BAA24B2FB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1B3F2-B379-4C61-9089-4A0C8EE0D703}" type="datetime1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5C051-89DA-4DBC-95B7-1520AEBC5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Design  and Implementation of Fractional Order IMC Controller for Nonlinear Process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2CF077-82FA-4479-83B5-5FE243854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351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E803E-55B7-4E07-A0FC-D00C36CF6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1A32A1-79D3-4058-9822-6245B6733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D64E3-76D9-49EF-AB73-5B357719A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207C5-18A5-47E8-8383-06DCE6164BFD}" type="datetime1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CEC79-8071-4171-AF9B-BE1239511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Design  and Implementation of Fractional Order IMC Controller for Nonlinear Process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5E754-3D6D-49AB-A7F0-F6C6EB14F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338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0E3E8A-89E3-4D1A-A5AA-4AF2A25D2E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034C40-F5C8-4F5C-AE4D-901D013B7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22C0E-B5CA-46C9-9D7E-06F832C1F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6151-BB30-4CF2-93F2-EDC14073C8C2}" type="datetime1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DB974-E485-4A73-AF72-CC8F6B847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Design  and Implementation of Fractional Order IMC Controller for Nonlinear Process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D7EB0-1FDF-42DE-BAB2-B9C95A0D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830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8609FA-2E13-453A-97DB-F98DCC3D8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C723F-683F-4DB3-B54B-D895110EE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E98F3-E48F-4F3F-8B4B-B1A7A67D29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9CE741-2CF4-4BE4-B4A7-1F73E287A1D8}" type="datetime1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6EC8E-912B-4BCE-BE29-9B3C190483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Design  and Implementation of Fractional Order IMC Controller for Nonlinear Process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B89F2-A3A5-4933-9ADD-D749C5165E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BBBAA-C7BB-44A6-9956-46BC82E4A6E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47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code.visualstudio.com/docs" TargetMode="External"/><Relationship Id="rId3" Type="http://schemas.openxmlformats.org/officeDocument/2006/relationships/hyperlink" Target="https://docs.streamlit.io/" TargetMode="External"/><Relationship Id="rId7" Type="http://schemas.openxmlformats.org/officeDocument/2006/relationships/hyperlink" Target="https://www.kaggle.com/" TargetMode="External"/><Relationship Id="rId2" Type="http://schemas.openxmlformats.org/officeDocument/2006/relationships/hyperlink" Target="https://docs.python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penweathermap.org/api" TargetMode="External"/><Relationship Id="rId5" Type="http://schemas.openxmlformats.org/officeDocument/2006/relationships/hyperlink" Target="https://numpy.org/doc/" TargetMode="External"/><Relationship Id="rId4" Type="http://schemas.openxmlformats.org/officeDocument/2006/relationships/hyperlink" Target="https://pandas.pydata.org/docs/" TargetMode="External"/><Relationship Id="rId9" Type="http://schemas.openxmlformats.org/officeDocument/2006/relationships/hyperlink" Target="https://docs.github.com/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8565A-6B83-45B6-9B02-457E526B41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0891" y="2654423"/>
            <a:ext cx="10907486" cy="1225119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+mn-lt"/>
              </a:rPr>
              <a:t>Solar Power Forecasting with AI Driven Power Management</a:t>
            </a:r>
            <a:endParaRPr lang="en-IN" sz="44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B8B11-8EB9-4AD5-B522-CD6F8D545C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8549" y="4297680"/>
            <a:ext cx="4426320" cy="1675737"/>
          </a:xfrm>
        </p:spPr>
        <p:txBody>
          <a:bodyPr>
            <a:normAutofit/>
          </a:bodyPr>
          <a:lstStyle/>
          <a:p>
            <a:pPr algn="l"/>
            <a:r>
              <a:rPr lang="en-GB" dirty="0"/>
              <a:t>      </a:t>
            </a:r>
            <a:r>
              <a:rPr lang="en-GB" b="1" dirty="0"/>
              <a:t>By Melanathoor Sai Neelesh</a:t>
            </a:r>
          </a:p>
          <a:p>
            <a:pPr algn="l"/>
            <a:r>
              <a:rPr lang="en-GB" dirty="0"/>
              <a:t>                 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8892D5-FD9E-496F-828F-FA3B0CF6FE57}"/>
              </a:ext>
            </a:extLst>
          </p:cNvPr>
          <p:cNvSpPr txBox="1"/>
          <p:nvPr/>
        </p:nvSpPr>
        <p:spPr>
          <a:xfrm>
            <a:off x="570683" y="4229055"/>
            <a:ext cx="44977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Project Guide</a:t>
            </a:r>
          </a:p>
          <a:p>
            <a:r>
              <a:rPr lang="en-GB" sz="2400" b="1" dirty="0"/>
              <a:t>Mr. Saurav </a:t>
            </a:r>
            <a:r>
              <a:rPr lang="en-GB" sz="2400" b="1"/>
              <a:t>Acherjee</a:t>
            </a:r>
            <a:endParaRPr lang="en-GB" sz="2400" b="1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D0EB50-81AC-4B37-81C9-28AC9BA51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47A8B-9E3C-4450-9A68-E6E1A8ED271C}" type="datetime1">
              <a:rPr lang="en-IN" smtClean="0"/>
              <a:t>30-04-2026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C65CA9-57AE-4763-9BBE-B049B84CD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1</a:t>
            </a:fld>
            <a:endParaRPr lang="en-IN"/>
          </a:p>
        </p:txBody>
      </p:sp>
      <p:pic>
        <p:nvPicPr>
          <p:cNvPr id="10" name="Picture 9"/>
          <p:cNvPicPr/>
          <p:nvPr/>
        </p:nvPicPr>
        <p:blipFill>
          <a:blip r:embed="rId2"/>
          <a:stretch>
            <a:fillRect/>
          </a:stretch>
        </p:blipFill>
        <p:spPr>
          <a:xfrm>
            <a:off x="1349404" y="612559"/>
            <a:ext cx="8424911" cy="113634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786852"/>
              </p:ext>
            </p:extLst>
          </p:nvPr>
        </p:nvGraphicFramePr>
        <p:xfrm>
          <a:off x="1278384" y="1748901"/>
          <a:ext cx="8469298" cy="818833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469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i-IN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नेशनल इंस्टीट्यूट ऑफ इलेक्ट्रॉननक्ट््स एंड इंफॉर्मेशन टेक्नोलॉजी</a:t>
                      </a:r>
                      <a:r>
                        <a:rPr lang="en-IN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, </a:t>
                      </a:r>
                      <a:r>
                        <a:rPr lang="hi-IN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चेन्नई</a:t>
                      </a:r>
                      <a:endParaRPr lang="en-IN" sz="14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solidFill>
                            <a:srgbClr val="C00000"/>
                          </a:solidFill>
                          <a:effectLst/>
                        </a:rPr>
                        <a:t>National Institute of Electronics and Information Technology, Chennai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</a:rPr>
                        <a:t> Autonomous Scientific Society of Ministry of Electronics &amp; Information Technology (</a:t>
                      </a:r>
                      <a:r>
                        <a:rPr lang="en-IN" sz="1400" dirty="0" err="1">
                          <a:effectLst/>
                        </a:rPr>
                        <a:t>MeitY</a:t>
                      </a:r>
                      <a:r>
                        <a:rPr lang="en-IN" sz="1400" dirty="0">
                          <a:effectLst/>
                        </a:rPr>
                        <a:t>), Govt. of India</a:t>
                      </a:r>
                      <a:endParaRPr lang="en-IN" sz="1400" dirty="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1986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99C38-5C86-46C3-8710-444CEE5CF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1" dirty="0">
                <a:solidFill>
                  <a:srgbClr val="C00000"/>
                </a:solidFill>
                <a:latin typeface="+mn-lt"/>
              </a:rPr>
              <a:t>Project Objectives</a:t>
            </a:r>
            <a:br>
              <a:rPr lang="en-IN" sz="4400" b="1" dirty="0">
                <a:solidFill>
                  <a:srgbClr val="C00000"/>
                </a:solidFill>
                <a:latin typeface="+mn-lt"/>
              </a:rPr>
            </a:br>
            <a:endParaRPr lang="en-IN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E09C8-8B94-4BBF-8801-3ED2579D5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137" y="1619794"/>
            <a:ext cx="11103429" cy="4557169"/>
          </a:xfrm>
        </p:spPr>
        <p:txBody>
          <a:bodyPr>
            <a:normAutofit lnSpcReduction="10000"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/>
              <a:t>To predict solar AC power generation using weather data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/>
              <a:t>To analyze the effect of irradiation and cloud cover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/>
              <a:t>To estimate revenue based on generated power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/>
              <a:t>To develop a user-friendly dashboard using </a:t>
            </a:r>
            <a:r>
              <a:rPr lang="en-US" altLang="en-US" dirty="0" err="1"/>
              <a:t>Streamlit</a:t>
            </a:r>
            <a:r>
              <a:rPr lang="en-US" altLang="en-US" dirty="0"/>
              <a:t>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/>
              <a:t>To implement a custom Linear Regression model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/>
              <a:t>Help users decide whether to store energy in batteries or sell it to the grid.</a:t>
            </a:r>
            <a:endParaRPr lang="en-US" altLang="en-US" dirty="0"/>
          </a:p>
          <a:p>
            <a:pPr marL="0" indent="0" algn="just">
              <a:buNone/>
            </a:pPr>
            <a:endParaRPr lang="en-IN" sz="2800" dirty="0"/>
          </a:p>
          <a:p>
            <a:pPr algn="just">
              <a:buFont typeface="Wingdings" panose="05000000000000000000" pitchFamily="2" charset="2"/>
              <a:buChar char="ü"/>
            </a:pPr>
            <a:endParaRPr lang="en-IN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ACC12-9AF6-4535-BC4C-2938393A4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E9C2A-5641-4244-8BB1-1DE791FE09C6}" type="datetime1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74E07-B555-44F8-B57A-EA7D63A37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Solar Power forecasting with AI driven Energy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EEF96-7DC5-449A-8F6B-BC3FAD258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2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426128" y="1198485"/>
            <a:ext cx="1096392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407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697" y="365125"/>
            <a:ext cx="11114103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Need of the project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5C32A-C551-4F47-9627-A4A264E69D65}" type="datetime1">
              <a:rPr lang="en-IN" smtClean="0"/>
              <a:t>30-04-2026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3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346229" y="1509204"/>
            <a:ext cx="1096392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543D8A5-6EB1-79DB-3209-E261EE320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/>
              <a:t>Solar Power forecasting with AI driven Energy Management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D5061BB9-575B-C4BE-21E7-C9E5DF8851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2580" y="1428614"/>
            <a:ext cx="11276507" cy="4826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Solar power depends on weather conditions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Power generation is not constant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Need for accurate prediction and planning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Helps in better energy usage and cost saving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Useful for smart grid and renewable systems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/>
              <a:t>Using AI helps us "see the future" so we don't waste energy and can save money. 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62589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200D3D71-B587-409A-B177-D1365E0E64A1}"/>
              </a:ext>
            </a:extLst>
          </p:cNvPr>
          <p:cNvSpPr txBox="1"/>
          <p:nvPr/>
        </p:nvSpPr>
        <p:spPr>
          <a:xfrm>
            <a:off x="140549" y="107190"/>
            <a:ext cx="44654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C00000"/>
                </a:solidFill>
              </a:rPr>
              <a:t>Scope of the work</a:t>
            </a:r>
            <a:endParaRPr lang="en-IN" sz="4400" b="1" dirty="0">
              <a:solidFill>
                <a:srgbClr val="C00000"/>
              </a:solidFill>
            </a:endParaRP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13C62CE5-64C1-4DA5-ACFE-FED5253D9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055EC-4B84-42F3-BE9C-FEF62072A2F3}" type="datetime1">
              <a:rPr lang="en-IN" smtClean="0"/>
              <a:t>30-04-2026</a:t>
            </a:fld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39639F2-24C6-4FA0-A50E-DAFFA3518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1D075B4-55AD-0CD1-A8F8-71D964C2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/>
              <a:t>Solar Power forecasting with AI driven Energy Management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CFC32A-CFD7-A12D-D96E-7F7673989DCC}"/>
              </a:ext>
            </a:extLst>
          </p:cNvPr>
          <p:cNvSpPr txBox="1"/>
          <p:nvPr/>
        </p:nvSpPr>
        <p:spPr>
          <a:xfrm>
            <a:off x="573157" y="989343"/>
            <a:ext cx="10412896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Solar power prediction for Indian cities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Weather-based estimation using API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Revenue calculation and decision support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Dashboard visualization using </a:t>
            </a:r>
            <a:r>
              <a:rPr lang="en-US" altLang="en-US" sz="2400" dirty="0" err="1"/>
              <a:t>Streamlit</a:t>
            </a:r>
            <a:r>
              <a:rPr lang="en-US" altLang="en-US" sz="2400" dirty="0"/>
              <a:t>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Can be extended to multiple solar plants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17B9C044-2BD8-B7C6-C8F3-DF39B5A002E1}"/>
              </a:ext>
            </a:extLst>
          </p:cNvPr>
          <p:cNvSpPr/>
          <p:nvPr/>
        </p:nvSpPr>
        <p:spPr>
          <a:xfrm>
            <a:off x="4042466" y="8703365"/>
            <a:ext cx="412750" cy="1524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3100E2C2-9C96-EBBB-3176-45D14298C69B}"/>
              </a:ext>
            </a:extLst>
          </p:cNvPr>
          <p:cNvSpPr/>
          <p:nvPr/>
        </p:nvSpPr>
        <p:spPr>
          <a:xfrm rot="10800000">
            <a:off x="4029766" y="9344715"/>
            <a:ext cx="412750" cy="1524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DD6AB79B-702C-E90E-287B-308BC65ACC4F}"/>
              </a:ext>
            </a:extLst>
          </p:cNvPr>
          <p:cNvSpPr/>
          <p:nvPr/>
        </p:nvSpPr>
        <p:spPr>
          <a:xfrm rot="5400000">
            <a:off x="5487726" y="9025945"/>
            <a:ext cx="226695" cy="13144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3E8C31C1-4824-98E9-08A2-15935C6B5D68}"/>
              </a:ext>
            </a:extLst>
          </p:cNvPr>
          <p:cNvSpPr/>
          <p:nvPr/>
        </p:nvSpPr>
        <p:spPr>
          <a:xfrm rot="5400000">
            <a:off x="2606096" y="9693965"/>
            <a:ext cx="226695" cy="13144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2F4CF46B-0F26-D777-31CD-5488A53B845E}"/>
              </a:ext>
            </a:extLst>
          </p:cNvPr>
          <p:cNvSpPr/>
          <p:nvPr/>
        </p:nvSpPr>
        <p:spPr>
          <a:xfrm>
            <a:off x="4017066" y="10024165"/>
            <a:ext cx="412750" cy="1524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6" name="Rectangle 39">
            <a:extLst>
              <a:ext uri="{FF2B5EF4-FFF2-40B4-BE49-F238E27FC236}">
                <a16:creationId xmlns:a16="http://schemas.microsoft.com/office/drawing/2014/main" id="{5175FE0A-119B-FB37-F68E-F26302FDE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366" y="199776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45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06027" y="365125"/>
            <a:ext cx="10847773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Work Progress</a:t>
            </a:r>
            <a:endParaRPr lang="en-IN" b="1" dirty="0">
              <a:solidFill>
                <a:srgbClr val="C00000"/>
              </a:solidFill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0462820"/>
              </p:ext>
            </p:extLst>
          </p:nvPr>
        </p:nvGraphicFramePr>
        <p:xfrm>
          <a:off x="838198" y="1825625"/>
          <a:ext cx="6290570" cy="471005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145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5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 Work completed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5478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First review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Project idea finalized Data collected and cleaned Custom model developed Dashboard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5478">
                <a:tc>
                  <a:txBody>
                    <a:bodyPr/>
                    <a:lstStyle/>
                    <a:p>
                      <a:r>
                        <a:rPr lang="en-US" dirty="0"/>
                        <a:t>Second review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created Testing completed Report and PPT preparation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0588">
                <a:tc>
                  <a:txBody>
                    <a:bodyPr/>
                    <a:lstStyle/>
                    <a:p>
                      <a:r>
                        <a:rPr lang="en-US" dirty="0"/>
                        <a:t>Third</a:t>
                      </a:r>
                      <a:r>
                        <a:rPr lang="en-US" baseline="0" dirty="0"/>
                        <a:t> review</a:t>
                      </a:r>
                    </a:p>
                    <a:p>
                      <a:r>
                        <a:rPr lang="en-US" baseline="0" dirty="0"/>
                        <a:t>Project finished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721B9-765B-4F00-83C3-E8B587D6BC77}" type="datetime1">
              <a:rPr lang="en-IN" smtClean="0"/>
              <a:t>30-04-2026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5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426128" y="1438182"/>
            <a:ext cx="1096392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831CD06-7AD0-480B-DF07-9D86407ED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/>
              <a:t>Solar Power forecasting with AI driven Energy Management</a:t>
            </a:r>
          </a:p>
        </p:txBody>
      </p:sp>
    </p:spTree>
    <p:extLst>
      <p:ext uri="{BB962C8B-B14F-4D97-AF65-F5344CB8AC3E}">
        <p14:creationId xmlns:p14="http://schemas.microsoft.com/office/powerpoint/2010/main" val="606361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4D6B65-A718-4118-BF72-F50CF027B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8E1D3-CC37-47E3-9C5B-85F35F7716B7}" type="datetime1">
              <a:rPr lang="en-IN" smtClean="0"/>
              <a:t>30-04-2026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E754E-7619-4F60-AD9C-D35747EE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24E925-B4F1-47DB-A55A-5E3FC1586D74}"/>
              </a:ext>
            </a:extLst>
          </p:cNvPr>
          <p:cNvSpPr txBox="1"/>
          <p:nvPr/>
        </p:nvSpPr>
        <p:spPr>
          <a:xfrm>
            <a:off x="653143" y="1166842"/>
            <a:ext cx="1081604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Solar energy is one of the most important renewable energy sources.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The power generated depends on weather conditions such as sunlight and cloud cover.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Machine learning can be used to predict solar power output.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This project focuses on building a simple and practical system for solar power forecasting and energy management.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Python &amp; </a:t>
            </a:r>
            <a:r>
              <a:rPr lang="en-US" sz="2400" b="1" dirty="0" err="1"/>
              <a:t>Streamlit</a:t>
            </a:r>
            <a:r>
              <a:rPr lang="en-US" sz="2400" b="1" dirty="0"/>
              <a:t>:</a:t>
            </a:r>
            <a:r>
              <a:rPr lang="en-US" sz="2400" dirty="0"/>
              <a:t> The tools used to write the code and build the visual dashboard.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86C496-0F7A-4B72-A3FF-9E1A538F9588}"/>
              </a:ext>
            </a:extLst>
          </p:cNvPr>
          <p:cNvSpPr txBox="1"/>
          <p:nvPr/>
        </p:nvSpPr>
        <p:spPr>
          <a:xfrm>
            <a:off x="838200" y="418749"/>
            <a:ext cx="80215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INTRODUCTION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26128" y="1198485"/>
            <a:ext cx="1096392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536E3-1CDB-5820-9E34-302346CB8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/>
              <a:t>Solar Power forecasting with AI driven Energy Management</a:t>
            </a:r>
          </a:p>
        </p:txBody>
      </p:sp>
    </p:spTree>
    <p:extLst>
      <p:ext uri="{BB962C8B-B14F-4D97-AF65-F5344CB8AC3E}">
        <p14:creationId xmlns:p14="http://schemas.microsoft.com/office/powerpoint/2010/main" val="384291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463E5EA0-B8AC-42FB-99B8-D4006F2D1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816749"/>
              </p:ext>
            </p:extLst>
          </p:nvPr>
        </p:nvGraphicFramePr>
        <p:xfrm>
          <a:off x="209006" y="718457"/>
          <a:ext cx="11613969" cy="532453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44857">
                  <a:extLst>
                    <a:ext uri="{9D8B030D-6E8A-4147-A177-3AD203B41FA5}">
                      <a16:colId xmlns:a16="http://schemas.microsoft.com/office/drawing/2014/main" val="3421318430"/>
                    </a:ext>
                  </a:extLst>
                </a:gridCol>
                <a:gridCol w="2820067">
                  <a:extLst>
                    <a:ext uri="{9D8B030D-6E8A-4147-A177-3AD203B41FA5}">
                      <a16:colId xmlns:a16="http://schemas.microsoft.com/office/drawing/2014/main" val="1769266390"/>
                    </a:ext>
                  </a:extLst>
                </a:gridCol>
                <a:gridCol w="2329901">
                  <a:extLst>
                    <a:ext uri="{9D8B030D-6E8A-4147-A177-3AD203B41FA5}">
                      <a16:colId xmlns:a16="http://schemas.microsoft.com/office/drawing/2014/main" val="1488776661"/>
                    </a:ext>
                  </a:extLst>
                </a:gridCol>
                <a:gridCol w="2747399">
                  <a:extLst>
                    <a:ext uri="{9D8B030D-6E8A-4147-A177-3AD203B41FA5}">
                      <a16:colId xmlns:a16="http://schemas.microsoft.com/office/drawing/2014/main" val="4244895725"/>
                    </a:ext>
                  </a:extLst>
                </a:gridCol>
                <a:gridCol w="3071745">
                  <a:extLst>
                    <a:ext uri="{9D8B030D-6E8A-4147-A177-3AD203B41FA5}">
                      <a16:colId xmlns:a16="http://schemas.microsoft.com/office/drawing/2014/main" val="528507123"/>
                    </a:ext>
                  </a:extLst>
                </a:gridCol>
              </a:tblGrid>
              <a:tr h="620360">
                <a:tc>
                  <a:txBody>
                    <a:bodyPr/>
                    <a:lstStyle/>
                    <a:p>
                      <a:pPr algn="just"/>
                      <a:r>
                        <a:rPr lang="en-GB" dirty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/>
                        <a:t>Title of the </a:t>
                      </a:r>
                      <a:r>
                        <a:rPr lang="en-GB" baseline="0" dirty="0"/>
                        <a:t> Journal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/>
                        <a:t>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/>
                        <a:t>Technology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/>
                        <a:t>Insights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109668"/>
                  </a:ext>
                </a:extLst>
              </a:tr>
              <a:tr h="919455">
                <a:tc>
                  <a:txBody>
                    <a:bodyPr/>
                    <a:lstStyle/>
                    <a:p>
                      <a:pPr algn="just"/>
                      <a:r>
                        <a:rPr lang="en-GB" sz="1200" dirty="0"/>
                        <a:t>1.</a:t>
                      </a:r>
                      <a:endParaRPr lang="en-IN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Solar Power Prediction using Linear Regression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Linear Regression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 simple method used to predict solar power using past data.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566765"/>
                  </a:ext>
                </a:extLst>
              </a:tr>
              <a:tr h="1147911">
                <a:tc>
                  <a:txBody>
                    <a:bodyPr/>
                    <a:lstStyle/>
                    <a:p>
                      <a:pPr algn="just"/>
                      <a:r>
                        <a:rPr lang="en-GB" sz="1200" dirty="0"/>
                        <a:t>2.</a:t>
                      </a:r>
                      <a:endParaRPr lang="en-IN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Solar Energy Forecasting using Random Forest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Gives better results when weather conditions change often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348158"/>
                  </a:ext>
                </a:extLst>
              </a:tr>
              <a:tr h="1398261">
                <a:tc>
                  <a:txBody>
                    <a:bodyPr/>
                    <a:lstStyle/>
                    <a:p>
                      <a:pPr algn="just"/>
                      <a:r>
                        <a:rPr lang="en-GB" sz="1200" dirty="0"/>
                        <a:t>3.</a:t>
                      </a:r>
                      <a:endParaRPr lang="en-IN" sz="12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Solar Irradiance Prediction using Neural Network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Neural Network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Useful for studying large data and finding hidden patterns.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8547">
                <a:tc>
                  <a:txBody>
                    <a:bodyPr/>
                    <a:lstStyle/>
                    <a:p>
                      <a:r>
                        <a:rPr lang="en-GB" sz="1200" dirty="0"/>
                        <a:t>4.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Smart Solar Energy Management System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Helps in proper use of energy and better planning.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5F9C9D7-7BF1-4A1D-9240-74EA3CB00FB9}"/>
              </a:ext>
            </a:extLst>
          </p:cNvPr>
          <p:cNvSpPr txBox="1"/>
          <p:nvPr/>
        </p:nvSpPr>
        <p:spPr>
          <a:xfrm>
            <a:off x="571500" y="1"/>
            <a:ext cx="61531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Literature survey</a:t>
            </a:r>
            <a:endParaRPr lang="en-IN" sz="4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02A7B-2DD2-4E3A-B8B9-7D9C8CAC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16B6C-3F2C-470E-BCCF-F81CA4CE0BF6}" type="datetime1">
              <a:rPr lang="en-IN" smtClean="0"/>
              <a:t>30-04-2026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6CAD93-94FD-4724-980E-43C739343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32183A3-F47F-A5A9-479B-AC147D3FB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/>
              <a:t>Solar Power forecasting with AI driven Energy Management</a:t>
            </a:r>
          </a:p>
        </p:txBody>
      </p:sp>
    </p:spTree>
    <p:extLst>
      <p:ext uri="{BB962C8B-B14F-4D97-AF65-F5344CB8AC3E}">
        <p14:creationId xmlns:p14="http://schemas.microsoft.com/office/powerpoint/2010/main" val="3563109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Block diagram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721B9-765B-4F00-83C3-E8B587D6BC77}" type="datetime1">
              <a:rPr lang="en-IN" smtClean="0"/>
              <a:t>30-04-2026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8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426128" y="1535837"/>
            <a:ext cx="1096392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1">
            <a:extLst>
              <a:ext uri="{FF2B5EF4-FFF2-40B4-BE49-F238E27FC236}">
                <a16:creationId xmlns:a16="http://schemas.microsoft.com/office/drawing/2014/main" id="{3BE57D6A-BD55-1FFA-FBE7-9325CEEB9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7163" y="2135624"/>
            <a:ext cx="2761974" cy="50768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Weather Data/City Input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994A5836-AC5F-1239-B095-8CD8A8DC6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5357" y="2135624"/>
            <a:ext cx="2758660" cy="50768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loader Module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Rectangle 28">
            <a:extLst>
              <a:ext uri="{FF2B5EF4-FFF2-40B4-BE49-F238E27FC236}">
                <a16:creationId xmlns:a16="http://schemas.microsoft.com/office/drawing/2014/main" id="{30634592-5258-F844-33DF-E72D1F840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7163" y="3348294"/>
            <a:ext cx="2761974" cy="546013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Power prediction output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Rectangle 27">
            <a:extLst>
              <a:ext uri="{FF2B5EF4-FFF2-40B4-BE49-F238E27FC236}">
                <a16:creationId xmlns:a16="http://schemas.microsoft.com/office/drawing/2014/main" id="{D787D1CC-0D66-C47A-FF1B-E3676CFB7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5356" y="3400082"/>
            <a:ext cx="2758661" cy="546012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Custom Linear Regression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Rectangle 23">
            <a:extLst>
              <a:ext uri="{FF2B5EF4-FFF2-40B4-BE49-F238E27FC236}">
                <a16:creationId xmlns:a16="http://schemas.microsoft.com/office/drawing/2014/main" id="{178499E2-DCBB-CC64-007B-4D2DF0080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7164" y="4909370"/>
            <a:ext cx="2761973" cy="546012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Revenue &amp; Energy Decision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Rectangle 21">
            <a:extLst>
              <a:ext uri="{FF2B5EF4-FFF2-40B4-BE49-F238E27FC236}">
                <a16:creationId xmlns:a16="http://schemas.microsoft.com/office/drawing/2014/main" id="{BEE761DF-3339-D0A2-E250-964067755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2783" y="4909370"/>
            <a:ext cx="2701234" cy="546012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Streamlit Dashboard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9F06E4C-BE6F-401B-BF42-29CFBE091C4D}"/>
              </a:ext>
            </a:extLst>
          </p:cNvPr>
          <p:cNvSpPr/>
          <p:nvPr/>
        </p:nvSpPr>
        <p:spPr>
          <a:xfrm>
            <a:off x="4494972" y="2288371"/>
            <a:ext cx="2017644" cy="20219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45B89B6-AC83-F4CF-F934-EE5BB318ACA9}"/>
              </a:ext>
            </a:extLst>
          </p:cNvPr>
          <p:cNvSpPr/>
          <p:nvPr/>
        </p:nvSpPr>
        <p:spPr>
          <a:xfrm rot="10800000">
            <a:off x="4494972" y="3571993"/>
            <a:ext cx="2017644" cy="20219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5DD7451-0042-BCE2-A148-894259C63929}"/>
              </a:ext>
            </a:extLst>
          </p:cNvPr>
          <p:cNvSpPr/>
          <p:nvPr/>
        </p:nvSpPr>
        <p:spPr>
          <a:xfrm>
            <a:off x="4494972" y="5076056"/>
            <a:ext cx="2017644" cy="20219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0666EB13-7A9D-1B4E-59C3-0B8457535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7073" y="2684485"/>
            <a:ext cx="232466" cy="66381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C06DA5A5-2445-DD19-A181-ED1A152CD5FF}"/>
              </a:ext>
            </a:extLst>
          </p:cNvPr>
          <p:cNvSpPr/>
          <p:nvPr/>
        </p:nvSpPr>
        <p:spPr>
          <a:xfrm>
            <a:off x="2719732" y="3978105"/>
            <a:ext cx="232190" cy="817169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55345F5-0EFA-173A-1D7E-53547A0F611D}"/>
              </a:ext>
            </a:extLst>
          </p:cNvPr>
          <p:cNvSpPr txBox="1">
            <a:spLocks/>
          </p:cNvSpPr>
          <p:nvPr/>
        </p:nvSpPr>
        <p:spPr>
          <a:xfrm>
            <a:off x="4191000" y="65087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Solar Power forecasting with AI driven Energy Management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0429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Proposed </a:t>
            </a:r>
            <a:r>
              <a:rPr lang="en-US" b="1" dirty="0" err="1">
                <a:solidFill>
                  <a:srgbClr val="C00000"/>
                </a:solidFill>
              </a:rPr>
              <a:t>metholodgy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5C32A-C551-4F47-9627-A4A264E69D65}" type="datetime1">
              <a:rPr lang="en-IN" smtClean="0"/>
              <a:t>30-04-2026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9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426128" y="1429305"/>
            <a:ext cx="1096392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itle 4">
            <a:extLst>
              <a:ext uri="{FF2B5EF4-FFF2-40B4-BE49-F238E27FC236}">
                <a16:creationId xmlns:a16="http://schemas.microsoft.com/office/drawing/2014/main" id="{C6D874A5-E1FB-92AD-70AA-501250D1B69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26" name="Date Placeholder 1">
            <a:extLst>
              <a:ext uri="{FF2B5EF4-FFF2-40B4-BE49-F238E27FC236}">
                <a16:creationId xmlns:a16="http://schemas.microsoft.com/office/drawing/2014/main" id="{81EA3EBF-C5F5-5F34-A5FF-8AA04267A146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AA721B9-765B-4F00-83C3-E8B587D6BC77}" type="datetime1">
              <a:rPr lang="en-IN" smtClean="0"/>
              <a:pPr/>
              <a:t>30-04-2026</a:t>
            </a:fld>
            <a:endParaRPr lang="en-IN"/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F4423688-8977-A7F2-7E83-424C0B06E66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A1BBBAA-C7BB-44A6-9956-46BC82E4A6E0}" type="slidenum">
              <a:rPr lang="en-IN" smtClean="0"/>
              <a:pPr/>
              <a:t>9</a:t>
            </a:fld>
            <a:endParaRPr lang="en-IN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1A67B62-E690-A0A7-C33F-9679FE60E1F2}"/>
              </a:ext>
            </a:extLst>
          </p:cNvPr>
          <p:cNvCxnSpPr/>
          <p:nvPr/>
        </p:nvCxnSpPr>
        <p:spPr>
          <a:xfrm>
            <a:off x="426128" y="1535837"/>
            <a:ext cx="1096392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1">
            <a:extLst>
              <a:ext uri="{FF2B5EF4-FFF2-40B4-BE49-F238E27FC236}">
                <a16:creationId xmlns:a16="http://schemas.microsoft.com/office/drawing/2014/main" id="{A5E93A1B-5471-2A40-FBF3-43C7F9EC3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7163" y="2135624"/>
            <a:ext cx="2761974" cy="50768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29">
            <a:extLst>
              <a:ext uri="{FF2B5EF4-FFF2-40B4-BE49-F238E27FC236}">
                <a16:creationId xmlns:a16="http://schemas.microsoft.com/office/drawing/2014/main" id="{FA423638-8049-66E3-5F04-97A6183D4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5357" y="2135624"/>
            <a:ext cx="2758660" cy="50768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 processing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Rectangle 28">
            <a:extLst>
              <a:ext uri="{FF2B5EF4-FFF2-40B4-BE49-F238E27FC236}">
                <a16:creationId xmlns:a16="http://schemas.microsoft.com/office/drawing/2014/main" id="{F0696A9E-788E-304A-340A-39C99EB18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7163" y="3192362"/>
            <a:ext cx="2761974" cy="546013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City/weather report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Rectangle 27">
            <a:extLst>
              <a:ext uri="{FF2B5EF4-FFF2-40B4-BE49-F238E27FC236}">
                <a16:creationId xmlns:a16="http://schemas.microsoft.com/office/drawing/2014/main" id="{70A759C2-5A97-1BBA-3CF1-9670E11A5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5356" y="3192362"/>
            <a:ext cx="2758661" cy="546012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Rectangle 23">
            <a:extLst>
              <a:ext uri="{FF2B5EF4-FFF2-40B4-BE49-F238E27FC236}">
                <a16:creationId xmlns:a16="http://schemas.microsoft.com/office/drawing/2014/main" id="{D3923960-3F78-751F-4761-BBBE7C1C2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477" y="4322515"/>
            <a:ext cx="2761973" cy="546012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Power Prediction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Rectangle 21">
            <a:extLst>
              <a:ext uri="{FF2B5EF4-FFF2-40B4-BE49-F238E27FC236}">
                <a16:creationId xmlns:a16="http://schemas.microsoft.com/office/drawing/2014/main" id="{0443BB79-BE8E-A50E-C03B-277937818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5355" y="4341833"/>
            <a:ext cx="2758659" cy="526694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Calculation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46694CE9-A750-B2D8-11A4-D29716FDBDE5}"/>
              </a:ext>
            </a:extLst>
          </p:cNvPr>
          <p:cNvSpPr/>
          <p:nvPr/>
        </p:nvSpPr>
        <p:spPr>
          <a:xfrm>
            <a:off x="4494972" y="2288371"/>
            <a:ext cx="2017644" cy="20219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A83D33A9-0D24-6E33-D767-82B32DAE07AD}"/>
              </a:ext>
            </a:extLst>
          </p:cNvPr>
          <p:cNvSpPr/>
          <p:nvPr/>
        </p:nvSpPr>
        <p:spPr>
          <a:xfrm rot="10800000">
            <a:off x="4494972" y="3429000"/>
            <a:ext cx="2017644" cy="20219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64EBB518-DD59-081B-BDC7-E383A08A6AF6}"/>
              </a:ext>
            </a:extLst>
          </p:cNvPr>
          <p:cNvSpPr/>
          <p:nvPr/>
        </p:nvSpPr>
        <p:spPr>
          <a:xfrm>
            <a:off x="4494972" y="4513744"/>
            <a:ext cx="2017644" cy="20219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67EC3D8C-03D2-6AAC-BE29-DEC4D29B0755}"/>
              </a:ext>
            </a:extLst>
          </p:cNvPr>
          <p:cNvSpPr/>
          <p:nvPr/>
        </p:nvSpPr>
        <p:spPr>
          <a:xfrm>
            <a:off x="2798830" y="3738374"/>
            <a:ext cx="202787" cy="58414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F8A86B93-5D86-2B37-00E9-5B68DE99DD7D}"/>
              </a:ext>
            </a:extLst>
          </p:cNvPr>
          <p:cNvSpPr/>
          <p:nvPr/>
        </p:nvSpPr>
        <p:spPr>
          <a:xfrm>
            <a:off x="7921210" y="2647543"/>
            <a:ext cx="232190" cy="544819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21">
            <a:extLst>
              <a:ext uri="{FF2B5EF4-FFF2-40B4-BE49-F238E27FC236}">
                <a16:creationId xmlns:a16="http://schemas.microsoft.com/office/drawing/2014/main" id="{CF63BB26-BC58-D1EA-C080-1BDDD504F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042" y="5428695"/>
            <a:ext cx="2761972" cy="57942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Rectangle 21">
            <a:extLst>
              <a:ext uri="{FF2B5EF4-FFF2-40B4-BE49-F238E27FC236}">
                <a16:creationId xmlns:a16="http://schemas.microsoft.com/office/drawing/2014/main" id="{2396FB40-B64E-6539-547B-5688F8831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7162" y="5462105"/>
            <a:ext cx="2761973" cy="54601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Output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F7377F12-2B42-F7C3-CC4E-8FFC5F3C83A3}"/>
              </a:ext>
            </a:extLst>
          </p:cNvPr>
          <p:cNvSpPr/>
          <p:nvPr/>
        </p:nvSpPr>
        <p:spPr>
          <a:xfrm rot="10800000">
            <a:off x="4494972" y="5579870"/>
            <a:ext cx="2017644" cy="20219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0F469943-E7B0-2E84-36BE-FC0CABA36E18}"/>
              </a:ext>
            </a:extLst>
          </p:cNvPr>
          <p:cNvSpPr/>
          <p:nvPr/>
        </p:nvSpPr>
        <p:spPr>
          <a:xfrm>
            <a:off x="7921210" y="4876201"/>
            <a:ext cx="232190" cy="544819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ooter Placeholder 4">
            <a:extLst>
              <a:ext uri="{FF2B5EF4-FFF2-40B4-BE49-F238E27FC236}">
                <a16:creationId xmlns:a16="http://schemas.microsoft.com/office/drawing/2014/main" id="{1E2BF485-3C66-81D1-7AC7-BDF172B51A45}"/>
              </a:ext>
            </a:extLst>
          </p:cNvPr>
          <p:cNvSpPr txBox="1">
            <a:spLocks/>
          </p:cNvSpPr>
          <p:nvPr/>
        </p:nvSpPr>
        <p:spPr>
          <a:xfrm>
            <a:off x="4191000" y="65087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Solar Power forecasting with AI driven Energy Management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3689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Algorithm 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5C32A-C551-4F47-9627-A4A264E69D65}" type="datetime1">
              <a:rPr lang="en-IN" smtClean="0"/>
              <a:t>30-04-2026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10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426128" y="1473693"/>
            <a:ext cx="1096392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1">
            <a:extLst>
              <a:ext uri="{FF2B5EF4-FFF2-40B4-BE49-F238E27FC236}">
                <a16:creationId xmlns:a16="http://schemas.microsoft.com/office/drawing/2014/main" id="{A996CC08-381C-0E27-7199-AB90B3E533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13769"/>
            <a:ext cx="10963922" cy="5575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Load dataset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Remove missing values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Train model using irradiation and power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Take user input (city/weather)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Predict solar power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Calculate revenue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Display results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A08ADF1-A2D0-1E2F-63AA-7E6D71DA0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/>
              <a:t>Solar Power forecasting with AI driven Energy Management</a:t>
            </a:r>
          </a:p>
        </p:txBody>
      </p:sp>
    </p:spTree>
    <p:extLst>
      <p:ext uri="{BB962C8B-B14F-4D97-AF65-F5344CB8AC3E}">
        <p14:creationId xmlns:p14="http://schemas.microsoft.com/office/powerpoint/2010/main" val="969804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C00000"/>
                </a:solidFill>
              </a:rPr>
              <a:t>Pseudocode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onsolas" panose="020B0609020204030204" pitchFamily="49" charset="0"/>
              </a:rPr>
              <a:t>Start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onsolas" panose="020B0609020204030204" pitchFamily="49" charset="0"/>
              </a:rPr>
              <a:t>Load 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onsolas" panose="020B0609020204030204" pitchFamily="49" charset="0"/>
              </a:rPr>
              <a:t>Train model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onsolas" panose="020B0609020204030204" pitchFamily="49" charset="0"/>
              </a:rPr>
              <a:t>Select city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onsolas" panose="020B0609020204030204" pitchFamily="49" charset="0"/>
              </a:rPr>
              <a:t>Get weather 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onsolas" panose="020B0609020204030204" pitchFamily="49" charset="0"/>
              </a:rPr>
              <a:t>Predict power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onsolas" panose="020B0609020204030204" pitchFamily="49" charset="0"/>
              </a:rPr>
              <a:t>Calculate revenue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onsolas" panose="020B0609020204030204" pitchFamily="49" charset="0"/>
              </a:rPr>
              <a:t>Display output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onsolas" panose="020B0609020204030204" pitchFamily="49" charset="0"/>
              </a:rPr>
              <a:t>End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5C32A-C551-4F47-9627-A4A264E69D65}" type="datetime1">
              <a:rPr lang="en-IN" smtClean="0"/>
              <a:t>30-04-2026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11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426128" y="1331650"/>
            <a:ext cx="1096392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DC725D0-EE24-6154-CB5D-73A60CD3A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/>
              <a:t>Solar Power forecasting with AI driven Energy Management</a:t>
            </a:r>
          </a:p>
        </p:txBody>
      </p:sp>
    </p:spTree>
    <p:extLst>
      <p:ext uri="{BB962C8B-B14F-4D97-AF65-F5344CB8AC3E}">
        <p14:creationId xmlns:p14="http://schemas.microsoft.com/office/powerpoint/2010/main" val="1584357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Result Analysis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5C32A-C551-4F47-9627-A4A264E69D65}" type="datetime1">
              <a:rPr lang="en-IN" smtClean="0"/>
              <a:t>30-04-2026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12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426128" y="1562470"/>
            <a:ext cx="1096392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1">
            <a:extLst>
              <a:ext uri="{FF2B5EF4-FFF2-40B4-BE49-F238E27FC236}">
                <a16:creationId xmlns:a16="http://schemas.microsoft.com/office/drawing/2014/main" id="{EC95ECDE-2B4B-F101-03F0-D4D7B91446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3006" y="1342159"/>
            <a:ext cx="5520411" cy="3220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System predicts solar power successfully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Higher irradiation gives higher output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Cloud cover reduces power generation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Dashboard shows results clearly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Revenue estimation is generated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B364552-4C88-AFB4-30EA-3B7F22A16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/>
              <a:t>Solar Power forecasting with AI driven Energy Management</a:t>
            </a:r>
          </a:p>
        </p:txBody>
      </p:sp>
    </p:spTree>
    <p:extLst>
      <p:ext uri="{BB962C8B-B14F-4D97-AF65-F5344CB8AC3E}">
        <p14:creationId xmlns:p14="http://schemas.microsoft.com/office/powerpoint/2010/main" val="1630844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1284C-61F1-5BB3-0241-82099D650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8D45E-885E-EB52-2E3E-88497E5A8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Result Analysis 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7C093-DC86-FDC8-DFF8-A9002D826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5C32A-C551-4F47-9627-A4A264E69D65}" type="datetime1">
              <a:rPr lang="en-IN" smtClean="0"/>
              <a:t>30-04-2026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FDCA4-51D4-C0E1-540E-A1183E454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13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0C79673-49EE-8DAB-FC76-03255AF12A30}"/>
              </a:ext>
            </a:extLst>
          </p:cNvPr>
          <p:cNvCxnSpPr/>
          <p:nvPr/>
        </p:nvCxnSpPr>
        <p:spPr>
          <a:xfrm>
            <a:off x="426128" y="1331650"/>
            <a:ext cx="1096392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2E474D6-509B-BDF8-4305-601040F10D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04" b="5324"/>
          <a:stretch>
            <a:fillRect/>
          </a:stretch>
        </p:blipFill>
        <p:spPr>
          <a:xfrm>
            <a:off x="595091" y="1420797"/>
            <a:ext cx="10417466" cy="488545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6C33A7B-F207-05A9-28DB-E1E36BF2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/>
              <a:t>Solar Power forecasting with AI driven Energy Management</a:t>
            </a:r>
          </a:p>
        </p:txBody>
      </p:sp>
    </p:spTree>
    <p:extLst>
      <p:ext uri="{BB962C8B-B14F-4D97-AF65-F5344CB8AC3E}">
        <p14:creationId xmlns:p14="http://schemas.microsoft.com/office/powerpoint/2010/main" val="347218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2DF2E-940A-B2C4-77EA-760D14DC7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4C828-C3AE-B70E-46BF-3C995E304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Result Analysis 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ED0F2-CFFB-0984-D0DF-4B10D11B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5C32A-C551-4F47-9627-A4A264E69D65}" type="datetime1">
              <a:rPr lang="en-IN" smtClean="0"/>
              <a:t>30-04-2026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E733D-4858-9A79-8879-14716C6F3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14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D3F42F9-5720-4725-9524-FEFA59F6BADB}"/>
              </a:ext>
            </a:extLst>
          </p:cNvPr>
          <p:cNvCxnSpPr/>
          <p:nvPr/>
        </p:nvCxnSpPr>
        <p:spPr>
          <a:xfrm>
            <a:off x="426128" y="1331650"/>
            <a:ext cx="1096392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70C1C0D-AFD2-DE33-9E3E-C0CAE6D4A1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37" r="1348" b="7414"/>
          <a:stretch>
            <a:fillRect/>
          </a:stretch>
        </p:blipFill>
        <p:spPr>
          <a:xfrm>
            <a:off x="579947" y="1401418"/>
            <a:ext cx="10656283" cy="4954932"/>
          </a:xfr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7FB4F90-1165-E129-8DA5-30F7C1A81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/>
              <a:t>Solar Power forecasting with AI driven Energy Management</a:t>
            </a:r>
          </a:p>
        </p:txBody>
      </p:sp>
    </p:spTree>
    <p:extLst>
      <p:ext uri="{BB962C8B-B14F-4D97-AF65-F5344CB8AC3E}">
        <p14:creationId xmlns:p14="http://schemas.microsoft.com/office/powerpoint/2010/main" val="438164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INFERENCE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5C32A-C551-4F47-9627-A4A264E69D65}" type="datetime1">
              <a:rPr lang="en-IN" smtClean="0"/>
              <a:t>30-04-2026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15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426128" y="1411549"/>
            <a:ext cx="1096392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BAE84F-E4E0-E070-F3D2-D2077A33D9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3910" y="1565094"/>
            <a:ext cx="6014980" cy="2805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Weather plays important role in solar power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Model gives logical predictions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Dashboard helps in understanding results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System can support energy planning 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76F7374-7595-C214-0F77-4F47078880EA}"/>
              </a:ext>
            </a:extLst>
          </p:cNvPr>
          <p:cNvSpPr txBox="1">
            <a:spLocks/>
          </p:cNvSpPr>
          <p:nvPr/>
        </p:nvSpPr>
        <p:spPr>
          <a:xfrm>
            <a:off x="4191000" y="65087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Solar Power forecasting with AI driven Energy Management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920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SUMMARY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721B9-765B-4F00-83C3-E8B587D6BC77}" type="datetime1">
              <a:rPr lang="en-IN" smtClean="0"/>
              <a:t>30-04-2026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16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426128" y="1438182"/>
            <a:ext cx="1096392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810D475A-C41E-D3DE-5939-0F9BD72B0C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87969"/>
            <a:ext cx="5663282" cy="308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Solar power prediction system developed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 Linear Regression used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Dashboard created using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Streamlit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Results are simple and useful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Project completed successfully 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DE353ED-7511-51D4-C995-E44EC0317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/>
              <a:t>Solar Power forecasting with AI driven Energy Management</a:t>
            </a:r>
          </a:p>
        </p:txBody>
      </p:sp>
    </p:spTree>
    <p:extLst>
      <p:ext uri="{BB962C8B-B14F-4D97-AF65-F5344CB8AC3E}">
        <p14:creationId xmlns:p14="http://schemas.microsoft.com/office/powerpoint/2010/main" val="2869078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260F8-33E9-49EA-9E8D-D51E023F1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1"/>
            <a:ext cx="10988040" cy="1306285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C00000"/>
                </a:solidFill>
                <a:latin typeface="+mn-lt"/>
              </a:rPr>
              <a:t>References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DD808-2E86-4884-A046-134A67FCF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1175658"/>
            <a:ext cx="11599817" cy="5342708"/>
          </a:xfrm>
        </p:spPr>
        <p:txBody>
          <a:bodyPr>
            <a:noAutofit/>
          </a:bodyPr>
          <a:lstStyle/>
          <a:p>
            <a:pPr lvl="0"/>
            <a:r>
              <a:rPr lang="en-US" sz="2300" dirty="0"/>
              <a:t>Python Software Foundation, </a:t>
            </a:r>
            <a:r>
              <a:rPr lang="en-US" sz="2300" i="1" dirty="0"/>
              <a:t>Python Documentation</a:t>
            </a:r>
            <a:r>
              <a:rPr lang="en-US" sz="2300" dirty="0"/>
              <a:t>. Available at: </a:t>
            </a:r>
            <a:r>
              <a:rPr lang="en-US" sz="2300" u="sng" dirty="0">
                <a:hlinkClick r:id="rId2"/>
              </a:rPr>
              <a:t>https://docs.python.org/</a:t>
            </a:r>
            <a:endParaRPr lang="en-US" sz="2300" dirty="0"/>
          </a:p>
          <a:p>
            <a:pPr lvl="0"/>
            <a:r>
              <a:rPr lang="en-US" sz="2300" dirty="0" err="1"/>
              <a:t>Streamlit</a:t>
            </a:r>
            <a:r>
              <a:rPr lang="en-US" sz="2300" dirty="0"/>
              <a:t> Inc., </a:t>
            </a:r>
            <a:r>
              <a:rPr lang="en-US" sz="2300" i="1" dirty="0" err="1"/>
              <a:t>Streamlit</a:t>
            </a:r>
            <a:r>
              <a:rPr lang="en-US" sz="2300" i="1" dirty="0"/>
              <a:t> Documentation</a:t>
            </a:r>
            <a:r>
              <a:rPr lang="en-US" sz="2300" dirty="0"/>
              <a:t>. Available at: </a:t>
            </a:r>
            <a:r>
              <a:rPr lang="en-US" sz="2300" u="sng" dirty="0">
                <a:hlinkClick r:id="rId3"/>
              </a:rPr>
              <a:t>https://docs.streamlit.io/</a:t>
            </a:r>
            <a:endParaRPr lang="en-US" sz="2300" dirty="0"/>
          </a:p>
          <a:p>
            <a:pPr lvl="0"/>
            <a:r>
              <a:rPr lang="en-US" sz="2300" dirty="0"/>
              <a:t>Pandas Development Team, </a:t>
            </a:r>
            <a:r>
              <a:rPr lang="en-US" sz="2300" i="1" dirty="0"/>
              <a:t>Pandas Documentation</a:t>
            </a:r>
            <a:r>
              <a:rPr lang="en-US" sz="2300" dirty="0"/>
              <a:t>. Available at: </a:t>
            </a:r>
            <a:r>
              <a:rPr lang="en-US" sz="2300" u="sng" dirty="0">
                <a:hlinkClick r:id="rId4"/>
              </a:rPr>
              <a:t>https://pandas.pydata.org/docs/</a:t>
            </a:r>
            <a:endParaRPr lang="en-US" sz="2300" dirty="0"/>
          </a:p>
          <a:p>
            <a:pPr lvl="0"/>
            <a:r>
              <a:rPr lang="en-US" sz="2300" dirty="0"/>
              <a:t>NumPy Developers, </a:t>
            </a:r>
            <a:r>
              <a:rPr lang="en-US" sz="2300" i="1" dirty="0"/>
              <a:t>NumPy Documentation</a:t>
            </a:r>
            <a:r>
              <a:rPr lang="en-US" sz="2300" dirty="0"/>
              <a:t>. Available at: </a:t>
            </a:r>
            <a:r>
              <a:rPr lang="en-US" sz="2300" u="sng" dirty="0">
                <a:hlinkClick r:id="rId5"/>
              </a:rPr>
              <a:t>https://numpy.org/doc/</a:t>
            </a:r>
            <a:endParaRPr lang="en-US" sz="2300" dirty="0"/>
          </a:p>
          <a:p>
            <a:pPr lvl="0"/>
            <a:r>
              <a:rPr lang="en-US" sz="2300" dirty="0"/>
              <a:t>OpenWeather, </a:t>
            </a:r>
            <a:r>
              <a:rPr lang="en-US" sz="2300" i="1" dirty="0"/>
              <a:t>Weather API Documentation</a:t>
            </a:r>
            <a:r>
              <a:rPr lang="en-US" sz="2300" dirty="0"/>
              <a:t>. Available at: </a:t>
            </a:r>
            <a:r>
              <a:rPr lang="en-US" sz="2300" u="sng" dirty="0">
                <a:hlinkClick r:id="rId6"/>
              </a:rPr>
              <a:t>https://openweathermap.org/api</a:t>
            </a:r>
            <a:endParaRPr lang="en-US" sz="2300" dirty="0"/>
          </a:p>
          <a:p>
            <a:pPr lvl="0"/>
            <a:r>
              <a:rPr lang="en-US" sz="2300" dirty="0"/>
              <a:t>Kaggle, </a:t>
            </a:r>
            <a:r>
              <a:rPr lang="en-US" sz="2300" i="1" dirty="0"/>
              <a:t>Solar Power Generation Dataset</a:t>
            </a:r>
            <a:r>
              <a:rPr lang="en-US" sz="2300" dirty="0"/>
              <a:t>. Available at: </a:t>
            </a:r>
            <a:r>
              <a:rPr lang="en-US" sz="2300" u="sng" dirty="0">
                <a:hlinkClick r:id="rId7"/>
              </a:rPr>
              <a:t>https://www.kaggle.com/</a:t>
            </a:r>
            <a:endParaRPr lang="en-US" sz="2300" dirty="0"/>
          </a:p>
          <a:p>
            <a:pPr lvl="0"/>
            <a:r>
              <a:rPr lang="en-US" sz="2300" dirty="0"/>
              <a:t>National Institute of Electronics and Information Technology (NIELIT), Chennai, Course Materials and Project Guidelines.</a:t>
            </a:r>
          </a:p>
          <a:p>
            <a:pPr lvl="0"/>
            <a:r>
              <a:rPr lang="en-US" sz="2300" dirty="0"/>
              <a:t>Microsoft, </a:t>
            </a:r>
            <a:r>
              <a:rPr lang="en-US" sz="2300" i="1" dirty="0"/>
              <a:t>Visual Studio Code Documentation</a:t>
            </a:r>
            <a:r>
              <a:rPr lang="en-US" sz="2300" dirty="0"/>
              <a:t>. Available at: </a:t>
            </a:r>
            <a:r>
              <a:rPr lang="en-US" sz="2300" u="sng" dirty="0">
                <a:hlinkClick r:id="rId8"/>
              </a:rPr>
              <a:t>https://code.visualstudio.com/docs</a:t>
            </a:r>
            <a:endParaRPr lang="en-US" sz="2300" dirty="0"/>
          </a:p>
          <a:p>
            <a:pPr lvl="0"/>
            <a:r>
              <a:rPr lang="en-US" sz="2300" dirty="0"/>
              <a:t>GitHub, </a:t>
            </a:r>
            <a:r>
              <a:rPr lang="en-US" sz="2300" i="1" dirty="0"/>
              <a:t>GitHub Documentation</a:t>
            </a:r>
            <a:r>
              <a:rPr lang="en-US" sz="2300" dirty="0"/>
              <a:t>. Available at: </a:t>
            </a:r>
            <a:r>
              <a:rPr lang="en-US" sz="2300" u="sng" dirty="0">
                <a:hlinkClick r:id="rId9"/>
              </a:rPr>
              <a:t>https://docs.github.com/</a:t>
            </a:r>
            <a:endParaRPr lang="en-US" sz="2300" dirty="0"/>
          </a:p>
          <a:p>
            <a:pPr algn="just">
              <a:buNone/>
            </a:pPr>
            <a:endParaRPr lang="en-IN" sz="2300" b="0" dirty="0">
              <a:effectLst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1F435-CFD2-4332-85C3-4028BCA50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BD3FD-CB00-4C9C-A140-A6222465ACC1}" type="datetime1">
              <a:rPr lang="en-IN" smtClean="0"/>
              <a:t>30-04-2026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FC5DA-5F89-41D0-A665-A03BAF8E4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17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426128" y="1012054"/>
            <a:ext cx="1096392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812259F-C07B-6AB1-BD8C-B6AF1617A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/>
              <a:t>Solar Power forecasting with AI driven Energy Management</a:t>
            </a:r>
          </a:p>
        </p:txBody>
      </p:sp>
    </p:spTree>
    <p:extLst>
      <p:ext uri="{BB962C8B-B14F-4D97-AF65-F5344CB8AC3E}">
        <p14:creationId xmlns:p14="http://schemas.microsoft.com/office/powerpoint/2010/main" val="2414971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Acknowledgement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5996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Berlin Sans FB Demi" panose="020E0802020502020306" pitchFamily="34" charset="0"/>
              </a:rPr>
              <a:t>I would like to thank my project guide Mr. Saurav Acherjee and institution for their support and guidance in completing this project successfully. </a:t>
            </a:r>
          </a:p>
          <a:p>
            <a:pPr marL="0" indent="0">
              <a:buNone/>
            </a:pPr>
            <a:endParaRPr lang="en-IN" dirty="0">
              <a:latin typeface="Berlin Sans FB Demi" panose="020E0802020502020306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5C32A-C551-4F47-9627-A4A264E69D65}" type="datetime1">
              <a:rPr lang="en-IN" smtClean="0"/>
              <a:t>30-04-2026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18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426128" y="1358283"/>
            <a:ext cx="1096392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002772F-DB19-5FF3-5BF0-2D3853F5E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/>
              <a:t>Solar Power forecasting with AI driven Energy Management</a:t>
            </a:r>
          </a:p>
        </p:txBody>
      </p:sp>
    </p:spTree>
    <p:extLst>
      <p:ext uri="{BB962C8B-B14F-4D97-AF65-F5344CB8AC3E}">
        <p14:creationId xmlns:p14="http://schemas.microsoft.com/office/powerpoint/2010/main" val="460463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76528-5818-46CA-9440-66E10B2C2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7867"/>
            <a:ext cx="10515600" cy="3090333"/>
          </a:xfrm>
        </p:spPr>
        <p:txBody>
          <a:bodyPr>
            <a:normAutofit/>
          </a:bodyPr>
          <a:lstStyle/>
          <a:p>
            <a:pPr algn="ctr"/>
            <a:r>
              <a:rPr lang="en-GB" sz="6600" b="1" dirty="0">
                <a:solidFill>
                  <a:srgbClr val="C00000"/>
                </a:solidFill>
              </a:rPr>
              <a:t>Thank You</a:t>
            </a:r>
            <a:endParaRPr lang="en-IN" sz="6600" b="1" dirty="0">
              <a:solidFill>
                <a:srgbClr val="C00000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F1F71B-4673-4E79-9F3F-8B3ECD914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BBA9A-4EAD-41B8-8093-4F904A27F961}" type="datetime1">
              <a:rPr lang="en-IN" smtClean="0"/>
              <a:t>30-04-2026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67C9AE-389B-4BA2-A6D3-DFD42E852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BBAA-C7BB-44A6-9956-46BC82E4A6E0}" type="slidenum">
              <a:rPr lang="en-IN" smtClean="0"/>
              <a:pPr/>
              <a:t>19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A2FBC1F-B33E-9FC5-2874-1E8E43211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/>
              <a:t>Solar Power forecasting with AI driven Energy Management</a:t>
            </a:r>
          </a:p>
        </p:txBody>
      </p:sp>
    </p:spTree>
    <p:extLst>
      <p:ext uri="{BB962C8B-B14F-4D97-AF65-F5344CB8AC3E}">
        <p14:creationId xmlns:p14="http://schemas.microsoft.com/office/powerpoint/2010/main" val="3070923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934</Words>
  <Application>Microsoft Office PowerPoint</Application>
  <PresentationFormat>Widescreen</PresentationFormat>
  <Paragraphs>207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Berlin Sans FB Demi</vt:lpstr>
      <vt:lpstr>Calibri</vt:lpstr>
      <vt:lpstr>Calibri Light</vt:lpstr>
      <vt:lpstr>Consolas</vt:lpstr>
      <vt:lpstr>Times New Roman</vt:lpstr>
      <vt:lpstr>Wingdings</vt:lpstr>
      <vt:lpstr>Office Theme</vt:lpstr>
      <vt:lpstr>Solar Power Forecasting with AI Driven Power Management</vt:lpstr>
      <vt:lpstr>Project Objectives </vt:lpstr>
      <vt:lpstr>Need of the project</vt:lpstr>
      <vt:lpstr>PowerPoint Presentation</vt:lpstr>
      <vt:lpstr>Work Progress</vt:lpstr>
      <vt:lpstr>PowerPoint Presentation</vt:lpstr>
      <vt:lpstr>PowerPoint Presentation</vt:lpstr>
      <vt:lpstr>Block diagram</vt:lpstr>
      <vt:lpstr>Proposed metholodgy</vt:lpstr>
      <vt:lpstr>Algorithm </vt:lpstr>
      <vt:lpstr>Pseudocode</vt:lpstr>
      <vt:lpstr>Result Analysis</vt:lpstr>
      <vt:lpstr>Result Analysis </vt:lpstr>
      <vt:lpstr>Result Analysis </vt:lpstr>
      <vt:lpstr>INFERENCE</vt:lpstr>
      <vt:lpstr>SUMMARY</vt:lpstr>
      <vt:lpstr>References</vt:lpstr>
      <vt:lpstr>Acknowledgement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of Fractional Order IMC Controller for Nonlinear Process</dc:title>
  <dc:creator>Karthi C</dc:creator>
  <cp:lastModifiedBy>Sri Hari M</cp:lastModifiedBy>
  <cp:revision>25</cp:revision>
  <dcterms:created xsi:type="dcterms:W3CDTF">2021-09-21T10:04:50Z</dcterms:created>
  <dcterms:modified xsi:type="dcterms:W3CDTF">2026-04-30T07:19:24Z</dcterms:modified>
</cp:coreProperties>
</file>